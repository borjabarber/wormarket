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f7ad64439f4e13" /><Relationship Type="http://schemas.openxmlformats.org/officeDocument/2006/relationships/extended-properties" Target="/docProps/app.xml" Id="Rb1a5eaacf2854d1f" /><Relationship Type="http://schemas.openxmlformats.org/officeDocument/2006/relationships/officeDocument" Target="/ppt/presentation.xml" Id="R2fe7c4e5ff7049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90df1edd79412c"/>
  </p:sldMasterIdLst>
  <p:notesMasterIdLst>
    <p:notesMasterId xmlns:r="http://schemas.openxmlformats.org/officeDocument/2006/relationships" r:id="R6184ecb0a9fd42ab"/>
  </p:notesMasterIdLst>
  <p:sldIdLst>
    <p:sldId xmlns:r="http://schemas.openxmlformats.org/officeDocument/2006/relationships" id="256" r:id="R340776722d134a3b"/>
    <p:sldId xmlns:r="http://schemas.openxmlformats.org/officeDocument/2006/relationships" id="257" r:id="R85fe53888e604026"/>
    <p:sldId xmlns:r="http://schemas.openxmlformats.org/officeDocument/2006/relationships" id="258" r:id="R621f598f3bca49f9"/>
    <p:sldId xmlns:r="http://schemas.openxmlformats.org/officeDocument/2006/relationships" id="259" r:id="Rd9cd7246b48a4b0a"/>
    <p:sldId xmlns:r="http://schemas.openxmlformats.org/officeDocument/2006/relationships" id="260" r:id="Rfa247e167f4642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8bf37bcea14fda" /><Relationship Type="http://schemas.openxmlformats.org/officeDocument/2006/relationships/slideMaster" Target="/ppt/slideMasters/slideMaster1.xml" Id="R2390df1edd79412c" /><Relationship Type="http://schemas.openxmlformats.org/officeDocument/2006/relationships/notesMaster" Target="/ppt/notesMasters/notesMaster1.xml" Id="R6184ecb0a9fd42ab" /><Relationship Type="http://schemas.openxmlformats.org/officeDocument/2006/relationships/presProps" Target="/ppt/presProps.xml" Id="R92735f7ceb1242af" /><Relationship Type="http://schemas.openxmlformats.org/officeDocument/2006/relationships/tableStyles" Target="/ppt/tableStyles.xml" Id="Rf399f4a4e2f34952" /><Relationship Type="http://schemas.openxmlformats.org/officeDocument/2006/relationships/slide" Target="/ppt/slides/slide1.xml" Id="R340776722d134a3b" /><Relationship Type="http://schemas.openxmlformats.org/officeDocument/2006/relationships/slide" Target="/ppt/slides/slide2.xml" Id="R85fe53888e604026" /><Relationship Type="http://schemas.openxmlformats.org/officeDocument/2006/relationships/slide" Target="/ppt/slides/slide3.xml" Id="R621f598f3bca49f9" /><Relationship Type="http://schemas.openxmlformats.org/officeDocument/2006/relationships/slide" Target="/ppt/slides/slide4.xml" Id="Rd9cd7246b48a4b0a" /><Relationship Type="http://schemas.openxmlformats.org/officeDocument/2006/relationships/slide" Target="/ppt/slides/slide5.xml" Id="Rfa247e167f4642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e68be555bb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714779f8bd42b5" /><Relationship Type="http://schemas.openxmlformats.org/officeDocument/2006/relationships/notesMaster" Target="/ppt/notesMasters/notesMaster1.xml" Id="Rb07de31ef17c47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f7b279390042ed" /><Relationship Type="http://schemas.openxmlformats.org/officeDocument/2006/relationships/notesMaster" Target="/ppt/notesMasters/notesMaster1.xml" Id="R3d6fddb7108a49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6280bab18345ef" /><Relationship Type="http://schemas.openxmlformats.org/officeDocument/2006/relationships/notesMaster" Target="/ppt/notesMasters/notesMaster1.xml" Id="R0eac19eeb21e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6a0caf90414bcf" /><Relationship Type="http://schemas.openxmlformats.org/officeDocument/2006/relationships/notesMaster" Target="/ppt/notesMasters/notesMaster1.xml" Id="R9434d7c1cd0347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ca699f63ba4b54" /><Relationship Type="http://schemas.openxmlformats.org/officeDocument/2006/relationships/notesMaster" Target="/ppt/notesMasters/notesMaster1.xml" Id="R921cebe3eabf45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explicando que Wormarket no es solo una idea fantastica: esta implementado como un marketplace funcional.</a:t>
            </a:r>
          </a:p>
          <a:p xmlns:a="http://schemas.openxmlformats.org/drawingml/2006/main">
            <a:r>
              <a:t>Remarcar que el universo creativo sirve para mostrar flujos reales de ecommerce.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Contar esta slide como la fase de construir bien antes de desplegar.</a:t>
            </a:r>
          </a:p>
          <a:p xmlns:a="http://schemas.openxmlformats.org/drawingml/2006/main">
            <a:r>
              <a:t>Destacar que se evito sobreingenieria: no microservicios, no Kafka, no Kubernetes.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se eligio Vercel + Supabase porque evita servidores gratuitos que se duermen.</a:t>
            </a:r>
          </a:p>
          <a:p xmlns:a="http://schemas.openxmlformats.org/drawingml/2006/main">
            <a:r>
              <a:t>Remarcar que hay runbook y comprobaciones reproducibles para no depender de memoria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listar el stack como una compra de herramientas: explicar que cada bloque cubre una necesidad academica y practica.</a:t>
            </a:r>
          </a:p>
          <a:p xmlns:a="http://schemas.openxmlformats.org/drawingml/2006/main">
            <a:r>
              <a:t>Subrayar que el monolito modular mantiene el proyecto entendible para un TFM.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slide como guion de la demo en directo.</a:t>
            </a:r>
          </a:p>
          <a:p xmlns:a="http://schemas.openxmlformats.org/drawingml/2006/main">
            <a:r>
              <a:t>Si algo externo falla, apoyarse en la URL publica, health checks y capturas/flujo preparado.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af320683549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999ed15bca4624" /><Relationship Type="http://schemas.openxmlformats.org/officeDocument/2006/relationships/slideLayout" Target="/ppt/slideLayouts/slideLayout1.xml" Id="Re66d76f9c98f4c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d76f9c98f4c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4a1b4727d48eb" /><Relationship Type="http://schemas.openxmlformats.org/officeDocument/2006/relationships/image" Target="/ppt/media/image.png" Id="Rb060dcfc21fc4164" /><Relationship Type="http://schemas.openxmlformats.org/officeDocument/2006/relationships/notesSlide" Target="/ppt/notesSlides/notesSlide1.xml" Id="R1e8b40ea272445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4830daabe4953" /><Relationship Type="http://schemas.openxmlformats.org/officeDocument/2006/relationships/image" Target="/ppt/media/image2.png" Id="R7ba1d945da3a4a95" /><Relationship Type="http://schemas.openxmlformats.org/officeDocument/2006/relationships/notesSlide" Target="/ppt/notesSlides/notesSlide2.xml" Id="Rd6626356511244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53a2aaab64c79" /><Relationship Type="http://schemas.openxmlformats.org/officeDocument/2006/relationships/notesSlide" Target="/ppt/notesSlides/notesSlide3.xml" Id="R9864ef3721194a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7a6ffe1a44a5f" /><Relationship Type="http://schemas.openxmlformats.org/officeDocument/2006/relationships/notesSlide" Target="/ppt/notesSlides/notesSlide4.xml" Id="R39473636335347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68802dbef4923" /><Relationship Type="http://schemas.openxmlformats.org/officeDocument/2006/relationships/image" Target="/ppt/media/image3.png" Id="R0ed51f304bed4e58" /><Relationship Type="http://schemas.openxmlformats.org/officeDocument/2006/relationships/notesSlide" Target="/ppt/notesSlides/notesSlide5.xml" Id="Raa89f6942c714c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6E45A-4B41-4392-9626-654065D4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2476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FF3EA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FA426-4072-4F1C-8085-E20D06B5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32B"/>
                </a:solidFill>
              </a:defRPr>
            </a:pPr>
            <a:r>
              <a:rPr sz="1125" b="1">
                <a:solidFill>
                  <a:srgbClr val="12332B"/>
                </a:solidFill>
              </a:rPr>
              <a:t>Marketplace interdimensional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50C9F-6288-4D7D-B305-A03D10E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11C"/>
                </a:solidFill>
              </a:defRPr>
            </a:pPr>
            <a:r>
              <a:rPr sz="4350" b="1">
                <a:solidFill>
                  <a:srgbClr val="10211C"/>
                </a:solidFill>
              </a:rPr>
              <a:t>Wormarket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D3FEF-1814-49B9-AAC7-B43D8F67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05B"/>
                </a:solidFill>
              </a:defRPr>
            </a:pPr>
            <a:r>
              <a:rPr sz="1725" b="0">
                <a:solidFill>
                  <a:srgbClr val="50605B"/>
                </a:solidFill>
              </a:rPr>
              <a:t>Una plataforma de compraventa de objetos imposibles construida como un marketplace real: usuarios, anuncios, ofertas, chat, valoraciones, moderacion y despliegue publico.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48C90-8CFA-48C8-A3D4-B1B0983C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14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8DABB-8BDD-4F33-A09A-283E6D53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2ECFF-A71A-4370-91B3-5EAEC117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Objetivo academico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B969E-DA58-41B3-BCE7-DAA66B3C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Demostrar arquitectura, frontend, backend, base de datos, seguridad, testing, CI y despliegue sin perder claridad de producto.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0dcfc21fc4164"/>
          <a:srcRect xmlns:a="http://schemas.openxmlformats.org/drawingml/2006/main" l="19250" t="0" r="19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742950"/>
            <a:ext cx="3905250" cy="476250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BB213-6841-448D-B69F-8AFEED67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95950"/>
            <a:ext cx="3429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9F7FE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19EAA-7E6F-45A7-8837-68003BC5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77215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32B"/>
                </a:solidFill>
              </a:defRPr>
            </a:pPr>
            <a:r>
              <a:rPr sz="1125" b="1">
                <a:solidFill>
                  <a:srgbClr val="12332B"/>
                </a:solidFill>
              </a:rPr>
              <a:t>TFM · Versión final demostrable 1.0.0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F116F-17B5-4BEA-A38C-1FF9E051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1DF06-C7FE-4BAE-A5A8-3ECDCD95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Wormarket · TFM · Versión 1.0.0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698B5-3855-4417-93DA-C692F7C0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6611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D78B9-3543-4A40-A3BB-95AF3444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14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1C"/>
                </a:solidFill>
              </a:defRPr>
            </a:pPr>
            <a:r>
              <a:rPr sz="3150" b="1">
                <a:solidFill>
                  <a:srgbClr val="10211C"/>
                </a:solidFill>
              </a:rPr>
              <a:t>Fase local: construir el producto completo antes de publicar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8CCC2-5FCB-4CD0-A6CE-A32D97AD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0605B"/>
                </a:solidFill>
              </a:defRPr>
            </a:pPr>
            <a:r>
              <a:rPr sz="1575" b="0">
                <a:solidFill>
                  <a:srgbClr val="50605B"/>
                </a:solidFill>
              </a:rPr>
              <a:t>El desarrollo local cerro el MVP funcional con backend, frontend, seed visual, pruebas y documentacion viva.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885AF-41EA-4CDA-8EF3-EB3F2810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9525">
            <a:solidFill>
              <a:srgbClr val="007C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4F903-FFCE-4CD1-A4E8-F3EE3266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74137-8C6E-4DEB-8250-2C13C664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1C"/>
                </a:solidFill>
              </a:defRPr>
            </a:pPr>
            <a:r>
              <a:rPr sz="1650" b="1">
                <a:solidFill>
                  <a:srgbClr val="10211C"/>
                </a:solidFill>
              </a:rPr>
              <a:t>Dominio y arquitectura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64C19-A838-4A78-A2DC-D6AFF99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Monorepo, monolito modular, Clean Architecture y DDD ligero para organizar casos de uso y entidades.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30F76-F172-47AE-9547-3B06FB53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9525">
            <a:solidFill>
              <a:srgbClr val="007C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E77FF-64DA-4793-871A-436F8628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70867-C1EA-46CF-9A44-EE10246A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1C"/>
                </a:solidFill>
              </a:defRPr>
            </a:pPr>
            <a:r>
              <a:rPr sz="1650" b="1">
                <a:solidFill>
                  <a:srgbClr val="10211C"/>
                </a:solidFill>
              </a:rPr>
              <a:t>Marketplace funcional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E9142-2C0B-4979-90F9-FB9AFDBF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Anuncios, favoritos, ofertas, transacciones, chat, valoraciones, notificaciones, perfiles y moderacion.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E099D-C01A-4A1D-8363-C60A10C9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9525">
            <a:solidFill>
              <a:srgbClr val="007C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5667B-B11F-4853-980A-1C8862A1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2AB6A-B539-445A-9D7B-1C9D6D57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1C"/>
                </a:solidFill>
              </a:defRPr>
            </a:pPr>
            <a:r>
              <a:rPr sz="1650" b="1">
                <a:solidFill>
                  <a:srgbClr val="10211C"/>
                </a:solidFill>
              </a:rPr>
              <a:t>Calidad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33899-46CE-46E9-BA15-4B493C0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3872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Pruebas unitarias, integracion, E2E local, seed idempotente, Docker Compose y documentacion de decisiones.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1d945da3a4a95"/>
          <a:srcRect xmlns:a="http://schemas.openxmlformats.org/drawingml/2006/main" l="3571" t="0" r="3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2095500"/>
            <a:ext cx="371475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87D5F-F854-4277-B6C0-2C13929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86375"/>
            <a:ext cx="3714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0852C-91A9-4484-9D42-D1943BAA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8637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3393A-AFC5-43C8-B2D6-2B257F8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47687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Resultado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FFC6E-865E-4FC7-9ED7-AE7B2FC1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857875"/>
            <a:ext cx="3257550" cy="-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Una demo local coherente: datos realistas, interfaz navegable y flujos de usuario completos antes de tocar produccion.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7BB1E-BFBC-4308-86E0-506B4DE3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4CC93-A68A-4653-B145-2C909684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Wormarket · TFM · Versión 1.0.0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62539-E979-4C27-9BC5-2B808C72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5451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1A348-0F6C-4485-92D2-BE112E5B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1C"/>
                </a:solidFill>
              </a:defRPr>
            </a:pPr>
            <a:r>
              <a:rPr sz="3150" b="1">
                <a:solidFill>
                  <a:srgbClr val="10211C"/>
                </a:solidFill>
              </a:rPr>
              <a:t>Fase de despliegue: produccion gratis y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B52EA-AEF7-4912-AFDB-72327083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0605B"/>
                </a:solidFill>
              </a:defRPr>
            </a:pPr>
            <a:r>
              <a:rPr sz="1575" b="0">
                <a:solidFill>
                  <a:srgbClr val="50605B"/>
                </a:solidFill>
              </a:rPr>
              <a:t>La publicacion se resolvio con una arquitectura simple: GitHub, Vercel y Supabase, sin Render ni costes iniciales.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DC14D-59B3-44E4-B5D9-3E00E8E6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A7E9D-AC50-496A-81B9-00330C8E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11C"/>
                </a:solidFill>
              </a:defRPr>
            </a:pPr>
            <a:r>
              <a:rPr sz="1950" b="1">
                <a:solidFill>
                  <a:srgbClr val="10211C"/>
                </a:solidFill>
              </a:rPr>
              <a:t>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24142-F43A-4E77-8F55-6E37F243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Repositorio y 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B3308-0113-461A-B2CD-56DD85F9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527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69"/>
                </a:solidFill>
              </a:defRPr>
            </a:pPr>
            <a:r>
              <a:rPr sz="2250" b="1">
                <a:solidFill>
                  <a:srgbClr val="007C6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86589-73F6-4149-8D11-B5423E15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431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F2333-1A1C-46CB-B9F6-BA7A0B0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11C"/>
                </a:solidFill>
              </a:defRPr>
            </a:pPr>
            <a:r>
              <a:rPr sz="1950" b="1">
                <a:solidFill>
                  <a:srgbClr val="10211C"/>
                </a:solidFill>
              </a:rPr>
              <a:t>Vercel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DEF56-E799-429A-992D-E0090FFB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Next.js + API /api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1305D-CF22-45E2-A71F-74062872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527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69"/>
                </a:solidFill>
              </a:defRPr>
            </a:pPr>
            <a:r>
              <a:rPr sz="2250" b="1">
                <a:solidFill>
                  <a:srgbClr val="007C6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80F3D-F2BD-44CD-9073-7119D952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431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A9659-9203-459E-AD3F-407961F9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08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11C"/>
                </a:solidFill>
              </a:defRPr>
            </a:pPr>
            <a:r>
              <a:rPr sz="1950" b="1">
                <a:solidFill>
                  <a:srgbClr val="10211C"/>
                </a:solidFill>
              </a:rPr>
              <a:t>Supabase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42A39-E1E9-4F9C-A57D-9364AEE9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8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PostgreSQL +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72D7F-237D-4381-AAEE-E7BFA4AF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527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69"/>
                </a:solidFill>
              </a:defRPr>
            </a:pPr>
            <a:r>
              <a:rPr sz="2250" b="1">
                <a:solidFill>
                  <a:srgbClr val="007C6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69B0A-4C32-4CC2-83F0-ACCA868D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32B"/>
          </a:solidFill>
          <a:ln xmlns:a="http://schemas.openxmlformats.org/drawingml/2006/main" w="9525">
            <a:solidFill>
              <a:srgbClr val="1233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7967A-233D-4ED0-BC99-DC9A8D25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Demo publica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6CD9F-C942-45A4-A2BE-DB580B42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8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DE7"/>
                </a:solidFill>
              </a:defRPr>
            </a:pPr>
            <a:r>
              <a:rPr sz="1200" b="0">
                <a:solidFill>
                  <a:srgbClr val="DCEDE7"/>
                </a:solidFill>
              </a:rPr>
              <a:t>wormarket.vercel.app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539E9-1769-42EE-B0BE-860F3913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EA7DC-CD30-40FF-B473-368F261C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CD1DA-B812-4DB8-B1BA-CE499EBD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Validacion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D32F1-02EC-4844-B708-3B4C7E9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Health checks publicos, E2E contra Vercel, limpieza de datos temporales en Supabase y GitHub Actions en verde.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10998-9B91-418F-9413-88CE34E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6CB24-F63D-4B40-A551-47520378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09FC3-204A-472D-A7FF-67D771E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2437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Decision clave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A94E77-C4AC-48C0-BC54-BF201634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05375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Realtime productivo inicial mediante polling REST para encajar en Vercel; Socket.IO se mantiene local.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157F04-7935-4EE8-B537-8CEA61A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E4016-9EEB-4312-BFD2-CFC65CE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Wormarket · TFM · Versión 1.0.0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0F1C9-5F2B-4351-90BE-9D66737D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8489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275DA0-1F66-469A-961A-3E84A85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1C"/>
                </a:solidFill>
              </a:defRPr>
            </a:pPr>
            <a:r>
              <a:rPr sz="3000" b="1">
                <a:solidFill>
                  <a:srgbClr val="10211C"/>
                </a:solidFill>
              </a:rPr>
              <a:t>Stack tecnológico: un monorepo para producto, API y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97852-0D90-4C67-91AD-2ACAFA56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05B"/>
                </a:solidFill>
              </a:defRPr>
            </a:pPr>
            <a:r>
              <a:rPr sz="1500" b="0">
                <a:solidFill>
                  <a:srgbClr val="50605B"/>
                </a:solidFill>
              </a:rPr>
              <a:t>La selección cubre frontend, backend, datos, seguridad, tiempo real local, testing, contenedores, CI y despliegue.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EFE39-BC66-4087-891C-4A38A7FC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3429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6B8B6-0209-413F-A3D9-707406EC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7AE1D-4FBB-4D16-93FE-681A6E43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7B3ED-4CFA-4DDB-8CC1-DF81EDE3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Next.js · React · TypeScript · TanStack Query · React Hook Form · Zod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4E9F1-062E-4783-9AF0-B0FC213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3429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6717A-51C3-4061-B003-478F05F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B2F13-CA1D-4FDB-A51D-E007DF0C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E0430-E033-4C3F-8F74-A490798E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NestJS · REST · Prisma · JWT · Socket.IO local · Swagger/OpenAPI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BE51B-AFAB-40D4-B36A-4F04CD59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43125"/>
            <a:ext cx="3429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C5A9E-8F9A-4737-BE29-37BB4CAE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431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39FCD-59F5-4CE6-BD7A-CAEFBC0F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Datos y despliegue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3A5C8-9A11-4B40-8483-8A9773ED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PostgreSQL · Supabase · Supabase Storage · Vercel · GitHub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06D8E-7234-43C5-ABD5-90AAF180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3429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3152-5AF1-4727-AF69-611FFC13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33A9C-F8D5-4BBA-BEE0-8F3F0042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Calidad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E1359-811C-4F66-B4F7-BEB2658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ESLint · Prettier · Vitest/Jest · Supertest · E2E local/publico · 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1D321-8CE0-4FA9-A4B0-D50189B6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10000"/>
            <a:ext cx="3429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73207-489D-4855-927F-88BA7287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10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01F6E-4C6A-4F5E-9D9F-4117D844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Arquitectura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66F60-0DE7-42D8-8CE1-359B75A1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Clean Architecture · DDD ligero · CQRS organizativo · monolito modular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DDB98-ABA6-4FAA-AE92-049DE9AC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3429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E547C-AF9A-4C53-A4E0-8D795C7F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24FF8-61AC-4F46-88C9-451425B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Seguridad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ABAF9F-259B-4B28-887A-590512D7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Variables de entorno · secretos fuera del repo · roles · propietario · validación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AA7EF-475B-44CD-897A-0E7BF769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C3BDC1-595D-40CA-B1CF-933E8FFC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Wormarket · TFM · Versión 1.0.0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BC5094-0B4F-42CF-941F-79EEA0DF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4007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8056E-E2E1-4443-B735-EF95449C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11C"/>
                </a:solidFill>
              </a:defRPr>
            </a:pPr>
            <a:r>
              <a:rPr sz="3150" b="1">
                <a:solidFill>
                  <a:srgbClr val="10211C"/>
                </a:solidFill>
              </a:rPr>
              <a:t>Demo: recorrido recomendado en cinco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F595E-614B-4440-AB5D-4BC79AF6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0605B"/>
                </a:solidFill>
              </a:defRPr>
            </a:pPr>
            <a:r>
              <a:rPr sz="1575" b="0">
                <a:solidFill>
                  <a:srgbClr val="50605B"/>
                </a:solidFill>
              </a:rPr>
              <a:t>Mostrar primero que parece una web real; después abrir los flujos que demuestran arquitectura y permisos.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72461-6348-4E36-AF4C-B9BE08AA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9525">
            <a:solidFill>
              <a:srgbClr val="007C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430E3-D347-4743-B9BC-CFE55C66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F65C0-58D7-4376-94FF-67213F9A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1C"/>
                </a:solidFill>
              </a:defRPr>
            </a:pPr>
            <a:r>
              <a:rPr sz="1650" b="1">
                <a:solidFill>
                  <a:srgbClr val="10211C"/>
                </a:solidFill>
              </a:rPr>
              <a:t>Home y busqueda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69B6B-96F3-4A84-B93D-A4A7AC46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563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Explorar anuncios, buscar “botella” y abrir un objeto desde la imagen.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DFF3A-9D77-4C31-893D-B98DD283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9525">
            <a:solidFill>
              <a:srgbClr val="007C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41202-7B1B-4E98-92E1-84ECB83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969A8-A307-4618-9C8E-AC10EE60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1C"/>
                </a:solidFill>
              </a:defRPr>
            </a:pPr>
            <a:r>
              <a:rPr sz="1650" b="1">
                <a:solidFill>
                  <a:srgbClr val="10211C"/>
                </a:solidFill>
              </a:rPr>
              <a:t>Login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1A71A-7F7B-4D6A-8ED9-BA9FB67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563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Entrar con un usuario y mostrar cabecera autenticada.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04EE5-0F61-4580-AA12-825CEF7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9525">
            <a:solidFill>
              <a:srgbClr val="007C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483D9-497F-4BE9-82D0-AB780351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D8148-79E9-47A3-A86E-57204C4B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1C"/>
                </a:solidFill>
              </a:defRPr>
            </a:pPr>
            <a:r>
              <a:rPr sz="1650" b="1">
                <a:solidFill>
                  <a:srgbClr val="10211C"/>
                </a:solidFill>
              </a:rPr>
              <a:t>Flujo comprador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7A404-4846-4E39-8AAC-0ED41D0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563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Favoritos, oferta, chat, transaccion y valoracion.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E5E19-EC56-4043-9FB2-360AE17A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9525">
            <a:solidFill>
              <a:srgbClr val="007C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72AD0-93C1-45B3-81BF-9C7BD57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C0035-B57A-43A3-9CC1-203E62E0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1C"/>
                </a:solidFill>
              </a:defRPr>
            </a:pPr>
            <a:r>
              <a:rPr sz="1650" b="1">
                <a:solidFill>
                  <a:srgbClr val="10211C"/>
                </a:solidFill>
              </a:rPr>
              <a:t>Flujo vendedor/admin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F4F72-D98C-405A-9C06-181A6BD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563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Publicar objeto, revisar ofertas y abrir moderacion con ZeroDev.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B8A44-E71E-4E11-899D-ACA0254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69"/>
          </a:solidFill>
          <a:ln xmlns:a="http://schemas.openxmlformats.org/drawingml/2006/main" w="9525">
            <a:solidFill>
              <a:srgbClr val="007C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2BEEC-8524-463C-8C12-C434C58B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C1BE9-93A2-43C0-83B5-5355B26E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1C"/>
                </a:solidFill>
              </a:defRPr>
            </a:pPr>
            <a:r>
              <a:rPr sz="1650" b="1">
                <a:solidFill>
                  <a:srgbClr val="10211C"/>
                </a:solidFill>
              </a:rPr>
              <a:t>Cierre tecnico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A3E00-1535-4B88-9224-8409BD8F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563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05B"/>
                </a:solidFill>
              </a:defRPr>
            </a:pPr>
            <a:r>
              <a:rPr sz="1200" b="0">
                <a:solidFill>
                  <a:srgbClr val="50605B"/>
                </a:solidFill>
              </a:rPr>
              <a:t>Health checks, GitHub Actions, Supabase limpio y runbook.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51f304bed4e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047875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4610B-EFB5-45C7-AEBC-567AC1CE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62500"/>
            <a:ext cx="3714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0907B-8ADA-4F1C-A450-DA89113E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625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D7C6C-3277-424A-B17F-0B40065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530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1C"/>
                </a:solidFill>
              </a:defRPr>
            </a:pPr>
            <a:r>
              <a:rPr sz="1800" b="1">
                <a:solidFill>
                  <a:srgbClr val="10211C"/>
                </a:solidFill>
              </a:rPr>
              <a:t>Credenciales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F73E0-2772-422A-B376-ECD72FE9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340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Admin: zerodev@demo.wormarket.local</a:t>
            </a:r>
          </a:p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General: braismoure@demo.wormarket.local</a:t>
            </a:r>
          </a:p>
          <a:p xmlns:a="http://schemas.openxmlformats.org/drawingml/2006/main">
            <a:pPr algn="l">
              <a:defRPr sz="1275" b="0">
                <a:solidFill>
                  <a:srgbClr val="50605B"/>
                </a:solidFill>
              </a:defRPr>
            </a:pPr>
            <a:r>
              <a:rPr sz="1275" b="0">
                <a:solidFill>
                  <a:srgbClr val="50605B"/>
                </a:solidFill>
              </a:rPr>
              <a:t>Password: WormarketDemo123!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A2209-75B2-4CF8-8048-A376450B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67EEF-F769-4BA8-BE34-EDA23F4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Wormarket · TFM · Versión 1.0.0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643B83-5382-4972-9060-6346763D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0605B"/>
                </a:solidFill>
              </a:defRPr>
            </a:pPr>
            <a:r>
              <a:rPr sz="1050" b="0">
                <a:solidFill>
                  <a:srgbClr val="50605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4690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2026-07-15T14:28:44.8680000Z</dcterms:created>
  <dcterms:modified xsi:type="dcterms:W3CDTF">2026-07-15T14:28:44.8690000Z</dcterms:modified>
</coreProperties>
</file>